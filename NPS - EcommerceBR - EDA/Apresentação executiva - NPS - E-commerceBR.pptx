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9" r:id="rId3"/>
    <p:sldId id="260" r:id="rId4"/>
    <p:sldId id="263" r:id="rId5"/>
    <p:sldId id="261" r:id="rId6"/>
    <p:sldId id="262" r:id="rId7"/>
    <p:sldId id="264" r:id="rId8"/>
    <p:sldId id="266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D6E9A-F5A1-4797-A967-B715EACD1049}" v="37" dt="2026-05-05T00:07:53.599"/>
    <p1510:client id="{6C21AE91-5319-431B-BA67-4CE64A150DF5}" v="3481" dt="2026-05-05T02:27:48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64976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5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8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5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2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14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9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27796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62632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28095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Apresentação</a:t>
            </a:r>
            <a:r>
              <a:rPr lang="de-DE" dirty="0"/>
              <a:t> de </a:t>
            </a:r>
            <a:r>
              <a:rPr lang="de-DE" dirty="0" err="1"/>
              <a:t>resultados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NPS – </a:t>
            </a:r>
            <a:r>
              <a:rPr lang="de-DE" dirty="0" err="1"/>
              <a:t>E-commerce</a:t>
            </a:r>
            <a:r>
              <a:rPr lang="de-DE" dirty="0"/>
              <a:t> BR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D26595D-8CC0-8FA6-FA1B-26C5DAB45E65}"/>
              </a:ext>
            </a:extLst>
          </p:cNvPr>
          <p:cNvSpPr txBox="1"/>
          <p:nvPr/>
        </p:nvSpPr>
        <p:spPr>
          <a:xfrm>
            <a:off x="10604671" y="635705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/>
              <a:t>04/05/2026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33676-3970-571F-2047-7DC5677C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 err="1"/>
              <a:t>pROBLEMÁTICA</a:t>
            </a:r>
            <a:endParaRPr lang="pt-BR" dirty="0" err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0ACFDE-ACB1-F07A-C780-9F485D5A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862" y="2019299"/>
            <a:ext cx="4386208" cy="41148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1400">
                <a:highlight>
                  <a:srgbClr val="FFFFFF"/>
                </a:highlight>
                <a:ea typeface="+mj-lt"/>
                <a:cs typeface="+mj-lt"/>
              </a:rPr>
              <a:t>E-commerce BR cresceu e passou a lidar com um volume cada vez maior de pedidos, entregas e interações com os clientes.</a:t>
            </a:r>
            <a:endParaRPr lang="pt-BR" sz="1400"/>
          </a:p>
          <a:p>
            <a:r>
              <a:rPr lang="pt-BR" sz="1400" dirty="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Os grandes players do mercado brasileiro são: Mercado Livre, </a:t>
            </a:r>
            <a:r>
              <a:rPr lang="pt-BR" sz="1400" dirty="0" err="1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Shopee</a:t>
            </a:r>
            <a:r>
              <a:rPr lang="pt-BR" sz="1400" dirty="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, </a:t>
            </a:r>
            <a:r>
              <a:rPr lang="pt-BR" sz="1400" dirty="0" err="1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Amazon</a:t>
            </a:r>
            <a:r>
              <a:rPr lang="pt-BR" sz="1400" dirty="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 Brasil, Magazine Luiza e Americanas. </a:t>
            </a:r>
            <a:endParaRPr lang="pt-BR" sz="1400" dirty="0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EE4FBD-57C5-8D61-7C8B-B7E01FE4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8FBFF-DF3E-EEC1-C8F8-E491DAD79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7B7365-C5CB-D29A-49AC-50393796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  <p:pic>
        <p:nvPicPr>
          <p:cNvPr id="7" name="Imagem 6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A46BB81-491C-5B84-5847-DAD117AC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1" t="3010" r="-117" b="9610"/>
          <a:stretch>
            <a:fillRect/>
          </a:stretch>
        </p:blipFill>
        <p:spPr>
          <a:xfrm>
            <a:off x="6100068" y="1071682"/>
            <a:ext cx="5322493" cy="358321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F7ECCFA-E589-548A-3253-D857AA7E59FE}"/>
              </a:ext>
            </a:extLst>
          </p:cNvPr>
          <p:cNvSpPr txBox="1"/>
          <p:nvPr/>
        </p:nvSpPr>
        <p:spPr>
          <a:xfrm>
            <a:off x="5785879" y="4815297"/>
            <a:ext cx="5951659" cy="460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200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Fonte: </a:t>
            </a:r>
            <a:r>
              <a:rPr lang="pt-BR" sz="1200" dirty="0" err="1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Abiacom</a:t>
            </a:r>
            <a:r>
              <a:rPr lang="pt-BR" sz="1200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 - Associação Brasileira de Inteligência Artificial e E-commerce - (2026)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525AE1-1863-41FC-7EEC-8750E697B5E4}"/>
              </a:ext>
            </a:extLst>
          </p:cNvPr>
          <p:cNvSpPr txBox="1"/>
          <p:nvPr/>
        </p:nvSpPr>
        <p:spPr>
          <a:xfrm>
            <a:off x="730874" y="4821191"/>
            <a:ext cx="50487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Mercado extremamente competitivo e </a:t>
            </a:r>
            <a:r>
              <a:rPr lang="pt-BR">
                <a:solidFill>
                  <a:srgbClr val="C00000"/>
                </a:solidFill>
              </a:rPr>
              <a:t>desafiador. </a:t>
            </a:r>
            <a:endParaRPr lang="pt-B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20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552AB-368A-8524-FFC1-C3751DAF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30FC6-3B82-84FC-9A3A-10A44E99B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 err="1"/>
              <a:t>pROBLEMÁTICA</a:t>
            </a:r>
            <a:endParaRPr lang="pt-BR" dirty="0" err="1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2BA50B-8948-C5F5-B731-ED7E7C9C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019079-FC25-B67D-A21F-CC8AEE70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345A9C-C576-34A8-1B1C-395027C5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F2B2C1-3C2B-80BF-5E6C-6790F9D5792D}"/>
              </a:ext>
            </a:extLst>
          </p:cNvPr>
          <p:cNvSpPr txBox="1"/>
          <p:nvPr/>
        </p:nvSpPr>
        <p:spPr>
          <a:xfrm>
            <a:off x="6647026" y="1567532"/>
            <a:ext cx="50487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Como aumentar nosso </a:t>
            </a:r>
            <a:r>
              <a:rPr lang="pt-BR" dirty="0" err="1">
                <a:solidFill>
                  <a:srgbClr val="C00000"/>
                </a:solidFill>
              </a:rPr>
              <a:t>market</a:t>
            </a:r>
            <a:r>
              <a:rPr lang="pt-BR" dirty="0">
                <a:solidFill>
                  <a:srgbClr val="C00000"/>
                </a:solidFill>
              </a:rPr>
              <a:t> </a:t>
            </a:r>
            <a:r>
              <a:rPr lang="pt-BR" dirty="0" err="1">
                <a:solidFill>
                  <a:srgbClr val="C00000"/>
                </a:solidFill>
              </a:rPr>
              <a:t>share</a:t>
            </a:r>
            <a:r>
              <a:rPr lang="pt-BR" dirty="0">
                <a:solidFill>
                  <a:srgbClr val="C00000"/>
                </a:solidFill>
              </a:rPr>
              <a:t>, aumentar nosso faturamento e reduzir </a:t>
            </a:r>
            <a:r>
              <a:rPr lang="pt-BR" dirty="0" err="1">
                <a:solidFill>
                  <a:srgbClr val="C00000"/>
                </a:solidFill>
              </a:rPr>
              <a:t>churn</a:t>
            </a:r>
            <a:r>
              <a:rPr lang="pt-BR" dirty="0">
                <a:solidFill>
                  <a:srgbClr val="C00000"/>
                </a:solidFill>
              </a:rPr>
              <a:t>? 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FBC69632-4DF2-3397-8AC7-DE13FEEDDF82}"/>
              </a:ext>
            </a:extLst>
          </p:cNvPr>
          <p:cNvSpPr txBox="1">
            <a:spLocks/>
          </p:cNvSpPr>
          <p:nvPr/>
        </p:nvSpPr>
        <p:spPr>
          <a:xfrm>
            <a:off x="764417" y="3621957"/>
            <a:ext cx="5035956" cy="71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>
                <a:solidFill>
                  <a:srgbClr val="C00000"/>
                </a:solidFill>
                <a:highlight>
                  <a:srgbClr val="FFFFFF"/>
                </a:highlight>
                <a:ea typeface="+mj-lt"/>
                <a:cs typeface="+mj-lt"/>
              </a:rPr>
              <a:t>Vamos ouvir nossos consumidores!</a:t>
            </a:r>
            <a:endParaRPr lang="pt-BR" sz="1800">
              <a:solidFill>
                <a:srgbClr val="C00000"/>
              </a:solidFill>
              <a:highlight>
                <a:srgbClr val="FFFFFF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  <p:pic>
        <p:nvPicPr>
          <p:cNvPr id="12" name="Gráfico 11" descr="Um livro aberto">
            <a:extLst>
              <a:ext uri="{FF2B5EF4-FFF2-40B4-BE49-F238E27FC236}">
                <a16:creationId xmlns:a16="http://schemas.microsoft.com/office/drawing/2014/main" id="{F0DEC4E4-618C-4663-100B-7DF9CAE8A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18" y="3883741"/>
            <a:ext cx="2544097" cy="2544097"/>
          </a:xfrm>
          <a:prstGeom prst="rect">
            <a:avLst/>
          </a:prstGeom>
        </p:spPr>
      </p:pic>
      <p:pic>
        <p:nvPicPr>
          <p:cNvPr id="13" name="Gráfico 12" descr="Uma lâmpada">
            <a:extLst>
              <a:ext uri="{FF2B5EF4-FFF2-40B4-BE49-F238E27FC236}">
                <a16:creationId xmlns:a16="http://schemas.microsoft.com/office/drawing/2014/main" id="{AB7E14FE-C8D0-9F06-DDFA-9851BF483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262" y="2047875"/>
            <a:ext cx="4572000" cy="4572000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2CBE0F6-686B-393B-C9B5-BAB12D19D07F}"/>
              </a:ext>
            </a:extLst>
          </p:cNvPr>
          <p:cNvSpPr txBox="1">
            <a:spLocks/>
          </p:cNvSpPr>
          <p:nvPr/>
        </p:nvSpPr>
        <p:spPr>
          <a:xfrm>
            <a:off x="528443" y="1567425"/>
            <a:ext cx="5035956" cy="1865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>
                <a:highlight>
                  <a:srgbClr val="FFFFFF"/>
                </a:highlight>
                <a:ea typeface="+mj-lt"/>
                <a:cs typeface="+mj-lt"/>
              </a:rPr>
              <a:t>A área de Experiência do Cliente percebeu que, mesmo com indicadores operacionais aparentemente semelhantes, alguns clientes se tornam promotores da marca, enquanto outros se tornam detratores.</a:t>
            </a:r>
            <a:endParaRPr lang="pt-BR" sz="1600"/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45E137-EDC2-2D91-346D-060FF688C659}"/>
              </a:ext>
            </a:extLst>
          </p:cNvPr>
          <p:cNvSpPr txBox="1"/>
          <p:nvPr/>
        </p:nvSpPr>
        <p:spPr>
          <a:xfrm>
            <a:off x="4041675" y="4968750"/>
            <a:ext cx="8259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>
                <a:solidFill>
                  <a:srgbClr val="C00000"/>
                </a:solidFill>
              </a:rPr>
              <a:t>NPS</a:t>
            </a:r>
          </a:p>
        </p:txBody>
      </p:sp>
    </p:spTree>
    <p:extLst>
      <p:ext uri="{BB962C8B-B14F-4D97-AF65-F5344CB8AC3E}">
        <p14:creationId xmlns:p14="http://schemas.microsoft.com/office/powerpoint/2010/main" val="195528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2050-CACE-D2F1-1BE3-D0EDBF58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46FF5-1B8B-C286-5BFB-51EE813F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/>
              <a:t>NPS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53664B-B0E4-2A09-A17A-D56B3084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F66AF3-DB41-A8EB-73AC-9F00A994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C98446-5058-2254-33E6-E0845EE1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  <p:pic>
        <p:nvPicPr>
          <p:cNvPr id="12" name="Gráfico 11" descr="Um livro aberto">
            <a:extLst>
              <a:ext uri="{FF2B5EF4-FFF2-40B4-BE49-F238E27FC236}">
                <a16:creationId xmlns:a16="http://schemas.microsoft.com/office/drawing/2014/main" id="{99F6F608-220F-4E92-CE79-B07D8D8D9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0049" y="1330372"/>
            <a:ext cx="4148307" cy="4201780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DF54941E-1CF4-EFED-35C9-29D1A7A26337}"/>
              </a:ext>
            </a:extLst>
          </p:cNvPr>
          <p:cNvSpPr txBox="1">
            <a:spLocks/>
          </p:cNvSpPr>
          <p:nvPr/>
        </p:nvSpPr>
        <p:spPr>
          <a:xfrm>
            <a:off x="604643" y="2359504"/>
            <a:ext cx="5757850" cy="1865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Dados do pedido (valor, quantidade de itens, forma de pagamento);</a:t>
            </a:r>
            <a:endParaRPr lang="pt-BR" sz="1600">
              <a:ea typeface="+mj-lt"/>
              <a:cs typeface="+mj-lt"/>
            </a:endParaRPr>
          </a:p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Dados logísticos (tempo de entrega, atraso, tentativas);</a:t>
            </a:r>
            <a:endParaRPr lang="pt-BR" sz="1600"/>
          </a:p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Dados de atendimento (contatos, tempo de resolução);</a:t>
            </a:r>
            <a:endParaRPr lang="pt-BR" sz="1600"/>
          </a:p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ea typeface="+mj-lt"/>
                <a:cs typeface="+mj-lt"/>
              </a:rPr>
              <a:t>Indicadores internos de negócio.</a:t>
            </a:r>
            <a:endParaRPr lang="pt-BR" sz="1600">
              <a:solidFill>
                <a:srgbClr val="1F1F1F"/>
              </a:solidFill>
              <a:ea typeface="+mj-lt"/>
              <a:cs typeface="+mj-lt"/>
            </a:endParaRPr>
          </a:p>
          <a:p>
            <a:endParaRPr lang="pt-BR" sz="1200" dirty="0">
              <a:highlight>
                <a:srgbClr val="FFFFFF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4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2B39-B9DE-12D5-E579-296EAA1D0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A1D5E-E9D5-8B59-4F46-3D840F79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/>
              <a:t>PERGUNTA NORTEADORA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5E7F84-A5E5-C8EF-0828-B8645E16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DA341-22C1-D987-83A1-AB588AA1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7B42E7-B102-2F85-A3D8-4F4A9183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E364DD-3968-4C37-FE64-18D5071B41D9}"/>
              </a:ext>
            </a:extLst>
          </p:cNvPr>
          <p:cNvSpPr txBox="1"/>
          <p:nvPr/>
        </p:nvSpPr>
        <p:spPr>
          <a:xfrm>
            <a:off x="546671" y="2525940"/>
            <a:ext cx="630540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  <a:ea typeface="+mn-lt"/>
                <a:cs typeface="+mn-lt"/>
              </a:rPr>
              <a:t>Quais são os principais fatores que contribuem para a variabilidade de satisfações no NPS </a:t>
            </a:r>
            <a:r>
              <a:rPr lang="pt-BR" sz="2800" dirty="0" err="1">
                <a:solidFill>
                  <a:srgbClr val="C00000"/>
                </a:solidFill>
                <a:ea typeface="+mn-lt"/>
                <a:cs typeface="+mn-lt"/>
              </a:rPr>
              <a:t>da</a:t>
            </a:r>
            <a:r>
              <a:rPr lang="pt-BR" sz="2800" dirty="0">
                <a:solidFill>
                  <a:srgbClr val="C00000"/>
                </a:solidFill>
                <a:ea typeface="+mn-lt"/>
                <a:cs typeface="+mn-lt"/>
              </a:rPr>
              <a:t> E-commerce BR?</a:t>
            </a:r>
            <a:endParaRPr lang="pt-BR" sz="2800" dirty="0">
              <a:ea typeface="+mn-lt"/>
              <a:cs typeface="+mn-lt"/>
            </a:endParaRPr>
          </a:p>
        </p:txBody>
      </p:sp>
      <p:pic>
        <p:nvPicPr>
          <p:cNvPr id="3" name="Gráfico 2" descr="Dois balões de diálogo">
            <a:extLst>
              <a:ext uri="{FF2B5EF4-FFF2-40B4-BE49-F238E27FC236}">
                <a16:creationId xmlns:a16="http://schemas.microsoft.com/office/drawing/2014/main" id="{2F1F3AB5-2AB7-E935-87C1-5DAAC3E45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6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3EFB-0C0A-10F4-288B-09D6C3E3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29846-F5E1-7795-DD32-F463F318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/>
              <a:t>ANÁLISE EXPLORATÓRIA DE DADOS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F56B53-25DD-851A-2CE5-CF93E46D3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C3E804-0783-6B8C-2CB0-1802B43F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987397-695B-58F9-2149-1143A6A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  <p:pic>
        <p:nvPicPr>
          <p:cNvPr id="3" name="Gráfico 2" descr="Papel milimetrado com tintas, lápis e uma régua">
            <a:extLst>
              <a:ext uri="{FF2B5EF4-FFF2-40B4-BE49-F238E27FC236}">
                <a16:creationId xmlns:a16="http://schemas.microsoft.com/office/drawing/2014/main" id="{1450A1D2-45F3-670F-6064-3954713B0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3516" y="848032"/>
            <a:ext cx="6009968" cy="6009968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ED2D382-1A10-8EC1-BAA4-83EBC8F5E62F}"/>
              </a:ext>
            </a:extLst>
          </p:cNvPr>
          <p:cNvSpPr txBox="1">
            <a:spLocks/>
          </p:cNvSpPr>
          <p:nvPr/>
        </p:nvSpPr>
        <p:spPr>
          <a:xfrm>
            <a:off x="5410159" y="2494697"/>
            <a:ext cx="5757850" cy="1865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Aplicado com metodolo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gia CRISP-DM.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</a:endParaRPr>
          </a:p>
          <a:p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Com o rigor do ferramental estatístico que nos dão segurança para tomar decisões baseada em dados com </a:t>
            </a:r>
            <a:r>
              <a:rPr lang="pt-BR" sz="1600" dirty="0" err="1">
                <a:solidFill>
                  <a:srgbClr val="1F1F1F"/>
                </a:solidFill>
                <a:highlight>
                  <a:srgbClr val="FFFFFF"/>
                </a:highlight>
              </a:rPr>
              <a:t>amostrage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ns mais próximas da </a:t>
            </a:r>
            <a:r>
              <a:rPr lang="pt-BR" sz="1600" dirty="0" err="1">
                <a:solidFill>
                  <a:srgbClr val="1F1F1F"/>
                </a:solidFill>
                <a:highlight>
                  <a:srgbClr val="FFFFFF"/>
                </a:highlight>
              </a:rPr>
              <a:t>noss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a realidade.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155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B929-AFD5-091E-0CBD-437F325B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84C86-6024-DADC-99A6-85F13898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/>
              <a:t>ANÁLISE EXPLORATÓRIA DE DADOS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D992E2-A9FD-B283-4F4C-A3AF82679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6298E-084A-4D10-A22B-F9B2FEFC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8E08D-7ADA-D5C0-5E14-1A89014D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  <p:pic>
        <p:nvPicPr>
          <p:cNvPr id="7" name="Imagem 6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1D20AF5-3FA4-F37C-FB4E-F499F4C0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2" y="1711582"/>
            <a:ext cx="5639107" cy="4110805"/>
          </a:xfrm>
          <a:prstGeom prst="rect">
            <a:avLst/>
          </a:prstGeom>
        </p:spPr>
      </p:pic>
      <p:pic>
        <p:nvPicPr>
          <p:cNvPr id="9" name="Imagem 8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D7E129B-AFDC-71AC-2310-3814938DE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12" y="1069718"/>
            <a:ext cx="5316486" cy="3710755"/>
          </a:xfrm>
          <a:prstGeom prst="rect">
            <a:avLst/>
          </a:prstGeom>
        </p:spPr>
      </p:pic>
      <p:pic>
        <p:nvPicPr>
          <p:cNvPr id="10" name="Imagem 9" descr="Gráfico&#10;&#10;O conteúdo gerado por IA pode estar incorreto.">
            <a:extLst>
              <a:ext uri="{FF2B5EF4-FFF2-40B4-BE49-F238E27FC236}">
                <a16:creationId xmlns:a16="http://schemas.microsoft.com/office/drawing/2014/main" id="{EEF8EF35-69B7-A1A0-77B7-D8AF22474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224" y="4780167"/>
            <a:ext cx="2730296" cy="1918827"/>
          </a:xfrm>
          <a:prstGeom prst="rect">
            <a:avLst/>
          </a:prstGeom>
        </p:spPr>
      </p:pic>
      <p:pic>
        <p:nvPicPr>
          <p:cNvPr id="11" name="Imagem 10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0E64C100-072F-7D4B-ED73-34BBA87A4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086" y="4926423"/>
            <a:ext cx="2441473" cy="177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9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D9CC-9820-8EC8-05CA-27198D4B5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67BE6-9E28-49AC-A3C5-F87CD175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 dirty="0"/>
              <a:t>Principais insi</a:t>
            </a:r>
            <a:r>
              <a:rPr lang="pt-BR"/>
              <a:t>ghts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69A004-A7FA-59CA-0188-F69A4B84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5C17E5-1BFB-06C9-735A-FF963170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4531A9-EF0F-BF10-E408-F3AC2321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  <p:pic>
        <p:nvPicPr>
          <p:cNvPr id="3" name="Gráfico 2" descr="Uma lâmpada">
            <a:extLst>
              <a:ext uri="{FF2B5EF4-FFF2-40B4-BE49-F238E27FC236}">
                <a16:creationId xmlns:a16="http://schemas.microsoft.com/office/drawing/2014/main" id="{D0FA36EC-81CA-F2C8-4C36-E768E7B11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8566" y="3846224"/>
            <a:ext cx="2914316" cy="3007894"/>
          </a:xfrm>
          <a:prstGeom prst="rect">
            <a:avLst/>
          </a:prstGeom>
        </p:spPr>
      </p:pic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C1C840AE-AB4F-F3AF-7DA3-A9228081D7B2}"/>
              </a:ext>
            </a:extLst>
          </p:cNvPr>
          <p:cNvSpPr txBox="1">
            <a:spLocks/>
          </p:cNvSpPr>
          <p:nvPr/>
        </p:nvSpPr>
        <p:spPr>
          <a:xfrm>
            <a:off x="420288" y="1226206"/>
            <a:ext cx="7539946" cy="44205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Os fatores mais críticos para a satisfação são: 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quantidade de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reclamações, quantidade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 de contatos no atendimento, dias de atraso na entrega.</a:t>
            </a:r>
          </a:p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Quanto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maior a quantidade de contatos no atendimento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,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maior a quantidade de reclamações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.</a:t>
            </a:r>
            <a:endParaRPr lang="pt-BR"/>
          </a:p>
          <a:p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Detratores não estão concentrados somente em grandes índices de tempo de atraso de entrega, estão presentes em qualquer índice de atraso. Porém, certamente 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a grande maioria dos promotores (75% percentil) está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concentrada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 em índices mais baixos de atraso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.</a:t>
            </a:r>
            <a:endParaRPr lang="pt-BR" dirty="0"/>
          </a:p>
          <a:p>
            <a:endParaRPr lang="pt-BR" sz="1600" dirty="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249B5DA-79C1-520E-DE46-7C28BDEC99E2}"/>
              </a:ext>
            </a:extLst>
          </p:cNvPr>
          <p:cNvGrpSpPr/>
          <p:nvPr/>
        </p:nvGrpSpPr>
        <p:grpSpPr>
          <a:xfrm>
            <a:off x="7955499" y="668644"/>
            <a:ext cx="3028031" cy="2964799"/>
            <a:chOff x="8846029" y="2018210"/>
            <a:chExt cx="2045694" cy="2000824"/>
          </a:xfrm>
        </p:grpSpPr>
        <p:pic>
          <p:nvPicPr>
            <p:cNvPr id="7" name="Imagem 6" descr="Gráfico, Gráfico de dispersão&#10;&#10;O conteúdo gerado por IA pode estar incorreto.">
              <a:extLst>
                <a:ext uri="{FF2B5EF4-FFF2-40B4-BE49-F238E27FC236}">
                  <a16:creationId xmlns:a16="http://schemas.microsoft.com/office/drawing/2014/main" id="{45DA7F33-7305-25D8-EFDB-2A0EC9392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7270" y="2018210"/>
              <a:ext cx="1543050" cy="1609725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9E18544-6F2E-9080-E78E-C32FFF779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34398" y="3628509"/>
              <a:ext cx="1457325" cy="390525"/>
            </a:xfrm>
            <a:prstGeom prst="rect">
              <a:avLst/>
            </a:prstGeom>
          </p:spPr>
        </p:pic>
        <p:pic>
          <p:nvPicPr>
            <p:cNvPr id="9" name="Imagem 8" descr="Gráfico, Diagrama&#10;&#10;O conteúdo gerado por IA pode estar incorreto.">
              <a:extLst>
                <a:ext uri="{FF2B5EF4-FFF2-40B4-BE49-F238E27FC236}">
                  <a16:creationId xmlns:a16="http://schemas.microsoft.com/office/drawing/2014/main" id="{FC51F1EF-F369-C643-E7C7-BA271E9C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6029" y="2111739"/>
              <a:ext cx="485775" cy="1514475"/>
            </a:xfrm>
            <a:prstGeom prst="rect">
              <a:avLst/>
            </a:prstGeom>
          </p:spPr>
        </p:pic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B0EF031-BAA5-8B3D-A5BD-2344EF544C6C}"/>
              </a:ext>
            </a:extLst>
          </p:cNvPr>
          <p:cNvGrpSpPr/>
          <p:nvPr/>
        </p:nvGrpSpPr>
        <p:grpSpPr>
          <a:xfrm>
            <a:off x="7129233" y="3846895"/>
            <a:ext cx="2910746" cy="2515919"/>
            <a:chOff x="7413836" y="3846895"/>
            <a:chExt cx="2047759" cy="1799823"/>
          </a:xfrm>
        </p:grpSpPr>
        <p:pic>
          <p:nvPicPr>
            <p:cNvPr id="11" name="Imagem 10" descr="Gráfico, Diagrama&#10;&#10;O conteúdo gerado por IA pode estar incorreto.">
              <a:extLst>
                <a:ext uri="{FF2B5EF4-FFF2-40B4-BE49-F238E27FC236}">
                  <a16:creationId xmlns:a16="http://schemas.microsoft.com/office/drawing/2014/main" id="{4D5F19A8-BBDD-9D6C-83F9-62E43A197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9970" y="3846895"/>
              <a:ext cx="1571625" cy="1514475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6410CA19-8ADE-1C0D-7E74-A5055E0AD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13836" y="3847239"/>
              <a:ext cx="485775" cy="149542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4F1D195-EF24-28A2-E594-09E60133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42358" y="5360968"/>
              <a:ext cx="1466850" cy="285750"/>
            </a:xfrm>
            <a:prstGeom prst="rect">
              <a:avLst/>
            </a:prstGeom>
          </p:spPr>
        </p:pic>
      </p:grpSp>
      <p:pic>
        <p:nvPicPr>
          <p:cNvPr id="16" name="Imagem 15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0B5D6968-3B2C-165E-597E-64D46F223F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3994" y="4454716"/>
            <a:ext cx="1009650" cy="647700"/>
          </a:xfrm>
          <a:prstGeom prst="rect">
            <a:avLst/>
          </a:prstGeom>
        </p:spPr>
      </p:pic>
      <p:pic>
        <p:nvPicPr>
          <p:cNvPr id="17" name="Imagem 16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56E6B784-243D-9966-F1CE-0304EE6A66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0259" y="1498523"/>
            <a:ext cx="100965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8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627A-39A5-6827-3D4A-5926E04A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03252-35B7-C970-D452-EAC364CF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25" y="-372294"/>
            <a:ext cx="10357666" cy="1438450"/>
          </a:xfrm>
        </p:spPr>
        <p:txBody>
          <a:bodyPr/>
          <a:lstStyle/>
          <a:p>
            <a:r>
              <a:rPr lang="pt-BR" dirty="0"/>
              <a:t>Principais insi</a:t>
            </a:r>
            <a:r>
              <a:rPr lang="pt-BR"/>
              <a:t>ghts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CFAE0-C1EA-9391-A4BE-ED3C38BA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D4A9A-1C6C-05CD-56B4-25B0C43A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6EDC24-33D4-4D7D-BEBB-31F86CCF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DF30DE98-A363-973C-3F07-B6053E494177}"/>
              </a:ext>
            </a:extLst>
          </p:cNvPr>
          <p:cNvSpPr txBox="1">
            <a:spLocks/>
          </p:cNvSpPr>
          <p:nvPr/>
        </p:nvSpPr>
        <p:spPr>
          <a:xfrm>
            <a:off x="447830" y="1509843"/>
            <a:ext cx="7539946" cy="34422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Existe um ponto de ruptura na experiência do cliente: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Não existem promotores 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(apenas um outlier) quando há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mais de 5 reclamações no atendimento.</a:t>
            </a:r>
            <a:endParaRPr lang="pt-BR" b="1"/>
          </a:p>
          <a:p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</a:rPr>
              <a:t>Há relação direta entre um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alto NPS e o índice de recompra dentro de 30 dias.</a:t>
            </a:r>
            <a:endParaRPr lang="pt-BR" b="1"/>
          </a:p>
          <a:p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Não há 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relação entre 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NPS e idade, valor do pedido, </a:t>
            </a:r>
            <a:r>
              <a:rPr lang="pt-BR" sz="1600" b="1" err="1">
                <a:solidFill>
                  <a:srgbClr val="1F1F1F"/>
                </a:solidFill>
                <a:highlight>
                  <a:srgbClr val="FFFFFF"/>
                </a:highlight>
              </a:rPr>
              <a:t>tempo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 de relacionamento do </a:t>
            </a:r>
            <a:r>
              <a:rPr lang="pt-BR" sz="1600" b="1">
                <a:solidFill>
                  <a:srgbClr val="1F1F1F"/>
                </a:solidFill>
                <a:highlight>
                  <a:srgbClr val="FFFFFF"/>
                </a:highlight>
              </a:rPr>
              <a:t>cliente, tempo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 de entrega geral e tempo de resolução de problemas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</a:rPr>
              <a:t>. A região do Brasil também não interfere significativamente na satisfação. Também 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</a:rPr>
              <a:t>não há relação entre aumento de satisfação com aumento de descontos.</a:t>
            </a:r>
            <a:endParaRPr lang="pt-BR" b="1"/>
          </a:p>
          <a:p>
            <a:endParaRPr lang="pt-BR" sz="1600" dirty="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DD82A7F-D283-94AD-ECCC-BE64882DF36A}"/>
              </a:ext>
            </a:extLst>
          </p:cNvPr>
          <p:cNvGrpSpPr/>
          <p:nvPr/>
        </p:nvGrpSpPr>
        <p:grpSpPr>
          <a:xfrm>
            <a:off x="8111570" y="1505466"/>
            <a:ext cx="2863467" cy="2834891"/>
            <a:chOff x="8956197" y="1386117"/>
            <a:chExt cx="1972937" cy="1926000"/>
          </a:xfrm>
        </p:grpSpPr>
        <p:pic>
          <p:nvPicPr>
            <p:cNvPr id="13" name="Imagem 12" descr="Gráfico, Gráfico de dispersão&#10;&#10;O conteúdo gerado por IA pode estar incorreto.">
              <a:extLst>
                <a:ext uri="{FF2B5EF4-FFF2-40B4-BE49-F238E27FC236}">
                  <a16:creationId xmlns:a16="http://schemas.microsoft.com/office/drawing/2014/main" id="{4E4224ED-0F70-F520-A022-15725834A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33709" y="1386117"/>
              <a:ext cx="1495425" cy="1533525"/>
            </a:xfrm>
            <a:prstGeom prst="rect">
              <a:avLst/>
            </a:prstGeom>
          </p:spPr>
        </p:pic>
        <p:pic>
          <p:nvPicPr>
            <p:cNvPr id="14" name="Imagem 13" descr="Gráfico&#10;&#10;O conteúdo gerado por IA pode estar incorreto.">
              <a:extLst>
                <a:ext uri="{FF2B5EF4-FFF2-40B4-BE49-F238E27FC236}">
                  <a16:creationId xmlns:a16="http://schemas.microsoft.com/office/drawing/2014/main" id="{D93615D1-FAEB-5264-D4F4-0A8F3E93F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56197" y="1386805"/>
              <a:ext cx="485775" cy="1495425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6FDD3AAA-0827-8DFE-4956-42E6F1DCA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29980" y="2921592"/>
              <a:ext cx="1447800" cy="390525"/>
            </a:xfrm>
            <a:prstGeom prst="rect">
              <a:avLst/>
            </a:prstGeom>
          </p:spPr>
        </p:pic>
      </p:grpSp>
      <p:pic>
        <p:nvPicPr>
          <p:cNvPr id="20" name="Gráfico 19" descr="Uma lâmpada">
            <a:extLst>
              <a:ext uri="{FF2B5EF4-FFF2-40B4-BE49-F238E27FC236}">
                <a16:creationId xmlns:a16="http://schemas.microsoft.com/office/drawing/2014/main" id="{1CF127CA-AFB6-C621-65E8-05F0F1B78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6542" y="4240995"/>
            <a:ext cx="2308388" cy="246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33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848F2-855E-59F5-651B-9A653074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1CF0-6065-4D86-5A61-EC662CE7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41" y="270357"/>
            <a:ext cx="10357666" cy="1438450"/>
          </a:xfrm>
        </p:spPr>
        <p:txBody>
          <a:bodyPr/>
          <a:lstStyle/>
          <a:p>
            <a:r>
              <a:rPr lang="pt-BR" dirty="0"/>
              <a:t>Fatores que mais impactam a satisfação do </a:t>
            </a:r>
            <a:r>
              <a:rPr lang="pt-BR"/>
              <a:t>cliente?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A5906A-0835-FEDC-A927-84B1A36EF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9A9C7-FFA5-78E0-A39D-025F2505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A2005F-2B8B-6428-C570-C3EE4B37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E5B9252-54CA-4DFD-DFBD-BA853C63475E}"/>
              </a:ext>
            </a:extLst>
          </p:cNvPr>
          <p:cNvSpPr txBox="1">
            <a:spLocks/>
          </p:cNvSpPr>
          <p:nvPr/>
        </p:nvSpPr>
        <p:spPr>
          <a:xfrm>
            <a:off x="696479" y="2462738"/>
            <a:ext cx="5035956" cy="71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>
                <a:solidFill>
                  <a:srgbClr val="C00000"/>
                </a:solidFill>
                <a:highlight>
                  <a:srgbClr val="FFFFFF"/>
                </a:highlight>
                <a:ea typeface="+mj-lt"/>
                <a:cs typeface="+mj-lt"/>
              </a:rPr>
              <a:t>Cuidar dos indicadores: </a:t>
            </a:r>
            <a:endParaRPr lang="pt-BR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AF7BB3-53AC-C585-C683-C78747D53CA7}"/>
              </a:ext>
            </a:extLst>
          </p:cNvPr>
          <p:cNvSpPr txBox="1"/>
          <p:nvPr/>
        </p:nvSpPr>
        <p:spPr>
          <a:xfrm>
            <a:off x="541231" y="3179350"/>
            <a:ext cx="495509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Quantidade de reclamações</a:t>
            </a:r>
            <a:endParaRPr lang="pt-BR">
              <a:solidFill>
                <a:srgbClr val="000000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Quantidade de contatos no atendimento</a:t>
            </a:r>
            <a:endParaRPr lang="pt-BR">
              <a:solidFill>
                <a:srgbClr val="000000"/>
              </a:solidFill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Dias de atraso na entrega</a:t>
            </a:r>
            <a:endParaRPr lang="pt-BR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1DB20CAE-6E82-CCF2-FB3E-1B0795FD28DE}"/>
              </a:ext>
            </a:extLst>
          </p:cNvPr>
          <p:cNvSpPr txBox="1">
            <a:spLocks/>
          </p:cNvSpPr>
          <p:nvPr/>
        </p:nvSpPr>
        <p:spPr>
          <a:xfrm>
            <a:off x="5777091" y="2297637"/>
            <a:ext cx="5155305" cy="71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dirty="0">
                <a:solidFill>
                  <a:srgbClr val="C00000"/>
                </a:solidFill>
                <a:highlight>
                  <a:srgbClr val="FFFFFF"/>
                </a:highlight>
                <a:ea typeface="+mj-lt"/>
                <a:cs typeface="+mj-lt"/>
              </a:rPr>
              <a:t>Fatores </a:t>
            </a:r>
            <a:r>
              <a:rPr lang="pt-BR" sz="1800" dirty="0" err="1">
                <a:solidFill>
                  <a:srgbClr val="C00000"/>
                </a:solidFill>
                <a:highlight>
                  <a:srgbClr val="FFFFFF"/>
                </a:highlight>
                <a:ea typeface="+mj-lt"/>
                <a:cs typeface="+mj-lt"/>
              </a:rPr>
              <a:t>importantes</a:t>
            </a:r>
            <a:r>
              <a:rPr lang="pt-BR" sz="1800" dirty="0">
                <a:solidFill>
                  <a:srgbClr val="C00000"/>
                </a:solidFill>
                <a:highlight>
                  <a:srgbClr val="FFFFFF"/>
                </a:highlight>
                <a:ea typeface="+mj-lt"/>
                <a:cs typeface="+mj-lt"/>
              </a:rPr>
              <a:t> mas que podem ser tratados em um segundo momento:</a:t>
            </a:r>
            <a:endParaRPr lang="pt-BR" sz="1800" dirty="0">
              <a:solidFill>
                <a:srgbClr val="C00000"/>
              </a:solidFill>
              <a:highlight>
                <a:srgbClr val="FFFFFF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E942BAC-F55F-EC26-388B-C92F22383921}"/>
              </a:ext>
            </a:extLst>
          </p:cNvPr>
          <p:cNvSpPr txBox="1"/>
          <p:nvPr/>
        </p:nvSpPr>
        <p:spPr>
          <a:xfrm>
            <a:off x="5783424" y="3014249"/>
            <a:ext cx="5377403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Descontos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Parcerias para reduzir tempo de frete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Ações que consideram fatores regionais ou idade dos participantes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Pedidos mais caros também não precisam de condições especiais.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Clientes com mais tempo de relacionamento não precisam de con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dições especiais.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</p:txBody>
      </p:sp>
      <p:pic>
        <p:nvPicPr>
          <p:cNvPr id="18" name="Gráfico 17" descr="Fita de premiação com estrela">
            <a:extLst>
              <a:ext uri="{FF2B5EF4-FFF2-40B4-BE49-F238E27FC236}">
                <a16:creationId xmlns:a16="http://schemas.microsoft.com/office/drawing/2014/main" id="{6F1DE436-D4DB-15AD-C5FE-6015F5060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9608" y="4032480"/>
            <a:ext cx="2771202" cy="2830569"/>
          </a:xfrm>
          <a:prstGeom prst="rect">
            <a:avLst/>
          </a:prstGeom>
        </p:spPr>
      </p:pic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AAE4E2B2-E146-4BCB-4861-0E00CC264865}"/>
              </a:ext>
            </a:extLst>
          </p:cNvPr>
          <p:cNvSpPr txBox="1">
            <a:spLocks/>
          </p:cNvSpPr>
          <p:nvPr/>
        </p:nvSpPr>
        <p:spPr>
          <a:xfrm>
            <a:off x="544079" y="1586438"/>
            <a:ext cx="5035956" cy="71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10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dirty="0">
                <a:highlight>
                  <a:srgbClr val="FFFFFF"/>
                </a:highlight>
                <a:ea typeface="+mj-lt"/>
                <a:cs typeface="+mj-lt"/>
              </a:rPr>
              <a:t>Voltando a pergunta norteadora inici</a:t>
            </a:r>
            <a:r>
              <a:rPr lang="pt-BR" sz="1800">
                <a:highlight>
                  <a:srgbClr val="FFFFFF"/>
                </a:highlight>
                <a:ea typeface="+mj-lt"/>
                <a:cs typeface="+mj-lt"/>
              </a:rPr>
              <a:t>al...</a:t>
            </a: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5743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9030-E4EE-E3F9-F2A1-F430469E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48162-D446-BCED-BFD5-3DD39E81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41" y="-251011"/>
            <a:ext cx="10357666" cy="1438450"/>
          </a:xfrm>
        </p:spPr>
        <p:txBody>
          <a:bodyPr/>
          <a:lstStyle/>
          <a:p>
            <a:r>
              <a:rPr lang="pt-BR"/>
              <a:t>RECOMENDAÇÕES PRÁTICAS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B40E76-AC99-0D92-26EF-3B39505B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E279D3-F34A-993B-3942-BC6828E6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B742E8-C88D-0CCB-12FF-A0224BCF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DC17C4-FB8F-5CDD-3F71-B400A0AA2CD6}"/>
              </a:ext>
            </a:extLst>
          </p:cNvPr>
          <p:cNvSpPr txBox="1"/>
          <p:nvPr/>
        </p:nvSpPr>
        <p:spPr>
          <a:xfrm>
            <a:off x="678942" y="1930925"/>
            <a:ext cx="654947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b="1" u="sng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Focar na experiência do cliente.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 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Em que momento da jornada do produto que o cliente se vê na necessidade de entrar em contato com o atendimento?</a:t>
            </a:r>
          </a:p>
          <a:p>
            <a:pPr marL="285750" indent="-285750">
              <a:buFont typeface="Arial"/>
              <a:buChar char="•"/>
            </a:pPr>
            <a:r>
              <a:rPr lang="pt-BR" sz="1600" b="1" u="sng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Mapear pontos de fricção na jornada do usuário com produtos.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 Podemos implementar ferramentas como </a:t>
            </a:r>
            <a:r>
              <a:rPr lang="pt-BR" sz="1600" dirty="0" err="1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HotJar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 que oferecem recursos para analisar comportamento de usuário?</a:t>
            </a:r>
          </a:p>
          <a:p>
            <a:pPr marL="285750" indent="-285750">
              <a:buFont typeface="Arial"/>
              <a:buChar char="•"/>
            </a:pPr>
            <a:r>
              <a:rPr lang="pt-BR" sz="1600" b="1" u="sng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No atendimento, focar em resolver o problema do consumidor.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 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Qual a qualidade do nosso atendimento? </a:t>
            </a:r>
            <a:r>
              <a:rPr lang="pt-BR" sz="1600" dirty="0" err="1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O atendimento têm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 condições e autonomia de resolver um </a:t>
            </a:r>
            <a:r>
              <a:rPr lang="pt-BR" sz="1600" dirty="0" err="1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problem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a de imediato?</a:t>
            </a:r>
          </a:p>
          <a:p>
            <a:pPr marL="285750" indent="-285750">
              <a:buFont typeface="Arial"/>
              <a:buChar char="•"/>
            </a:pPr>
            <a:r>
              <a:rPr lang="pt-BR" sz="1600" b="1" u="sng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Cumprir prazos de frete.</a:t>
            </a:r>
            <a:r>
              <a:rPr lang="pt-BR" sz="1600" b="1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 </a:t>
            </a: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Como está a eficiência do nosso time de logística? Estamos quebrando a 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confiança do nosso consumidor não cumprindo com o combinado na expectativa de entrega? 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</p:txBody>
      </p:sp>
      <p:pic>
        <p:nvPicPr>
          <p:cNvPr id="3" name="Gráfico 14" descr="Uma taça de troféu">
            <a:extLst>
              <a:ext uri="{FF2B5EF4-FFF2-40B4-BE49-F238E27FC236}">
                <a16:creationId xmlns:a16="http://schemas.microsoft.com/office/drawing/2014/main" id="{77EAE5B9-0082-D29A-62D0-E61B2E61F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5425" y="1274108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5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883C-92C1-12CA-4C19-2096FB2B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4F3DB-3132-3ED2-7452-7A37CD8F0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41" y="-251011"/>
            <a:ext cx="10357666" cy="1438450"/>
          </a:xfrm>
        </p:spPr>
        <p:txBody>
          <a:bodyPr/>
          <a:lstStyle/>
          <a:p>
            <a:r>
              <a:rPr lang="pt-BR"/>
              <a:t>Riscos e limitações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2251B5-33E8-81EA-866B-12D3BE13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3585B4-1DBD-BFC8-1892-460A2837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D9F5C4-AD57-0FBB-0296-2F5E4C71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155ECB9-07F1-7254-CF67-9387850BC6E8}"/>
              </a:ext>
            </a:extLst>
          </p:cNvPr>
          <p:cNvSpPr txBox="1"/>
          <p:nvPr/>
        </p:nvSpPr>
        <p:spPr>
          <a:xfrm>
            <a:off x="4617472" y="2129841"/>
            <a:ext cx="654947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NPS resume um conjunto de experiência em apenas uma 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pergunta: "você recomendaria?" As respostas podem esconder nuances mais enriquecedoras.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Nossos consumidores podem ter recebido algum tipo de incen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tivo para responder a pesquisa, tornando-a enviesada em alguns casos (viés de seleção).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Nossa base de dados não possui data, então não temos como assegurar que os dados não sofreram alguma interferência ambiental ou situaci</a:t>
            </a:r>
            <a:r>
              <a:rPr lang="pt-BR" sz="1600">
                <a:solidFill>
                  <a:srgbClr val="1F1F1F"/>
                </a:solidFill>
                <a:highlight>
                  <a:srgbClr val="FFFFFF"/>
                </a:highlight>
                <a:latin typeface="Avenir Next LT Pro Light"/>
              </a:rPr>
              <a:t>onal.</a:t>
            </a:r>
            <a:endParaRPr lang="pt-BR" sz="1600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u="sng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  <a:p>
            <a:pPr marL="285750" indent="-285750">
              <a:buFont typeface="Arial"/>
              <a:buChar char="•"/>
            </a:pPr>
            <a:endParaRPr lang="pt-BR" sz="1600" b="1" dirty="0">
              <a:solidFill>
                <a:srgbClr val="1F1F1F"/>
              </a:solidFill>
              <a:highlight>
                <a:srgbClr val="FFFFFF"/>
              </a:highlight>
              <a:latin typeface="Avenir Next LT Pro Light"/>
            </a:endParaRPr>
          </a:p>
        </p:txBody>
      </p:sp>
      <p:pic>
        <p:nvPicPr>
          <p:cNvPr id="7" name="Gráfico 6" descr="Bloco de papel para gráficos com lápis">
            <a:extLst>
              <a:ext uri="{FF2B5EF4-FFF2-40B4-BE49-F238E27FC236}">
                <a16:creationId xmlns:a16="http://schemas.microsoft.com/office/drawing/2014/main" id="{9F3794A2-EC5F-95F5-FCBE-50D625363C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0169" y="1363337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19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EACC-03A9-1AF6-EFC9-11DD8726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751F3-B766-3CE8-BF9A-F0404C7A1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617" y="1998267"/>
            <a:ext cx="6125353" cy="1438450"/>
          </a:xfrm>
        </p:spPr>
        <p:txBody>
          <a:bodyPr>
            <a:noAutofit/>
          </a:bodyPr>
          <a:lstStyle/>
          <a:p>
            <a:r>
              <a:rPr lang="pt-BR" sz="6600"/>
              <a:t>OBRIGADA!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B0EA48-DA68-DDF7-43B8-B5C3E781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60EE-859A-452D-B855-9C119C4125C1}" type="datetime1">
              <a:t>04/05/2026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65EA62-6051-2469-8D0C-519CDA12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7E8091-5CF0-68DC-3DDF-BEB0AB67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60114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VeniceBeachVTI</vt:lpstr>
      <vt:lpstr>Apresentação de resultados</vt:lpstr>
      <vt:lpstr>pROBLEMÁTICA</vt:lpstr>
      <vt:lpstr>pROBLEMÁTICA</vt:lpstr>
      <vt:lpstr>NPS</vt:lpstr>
      <vt:lpstr>PERGUNTA NORTEADORA</vt:lpstr>
      <vt:lpstr>ANÁLISE EXPLORATÓRIA DE DADOS</vt:lpstr>
      <vt:lpstr>ANÁLISE EXPLORATÓRIA DE DADOS</vt:lpstr>
      <vt:lpstr>Principais insights</vt:lpstr>
      <vt:lpstr>Principais insights</vt:lpstr>
      <vt:lpstr>Fatores que mais impactam a satisfação do cliente?</vt:lpstr>
      <vt:lpstr>RECOMENDAÇÕES PRÁTICAS</vt:lpstr>
      <vt:lpstr>Riscos e limitações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445</cp:revision>
  <dcterms:created xsi:type="dcterms:W3CDTF">2026-05-05T00:04:24Z</dcterms:created>
  <dcterms:modified xsi:type="dcterms:W3CDTF">2026-05-05T03:42:25Z</dcterms:modified>
</cp:coreProperties>
</file>